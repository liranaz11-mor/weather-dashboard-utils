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DF9F05-4B69-9C73-CB5B-FC2F051CC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EC4D31E-FC41-9F96-00CD-366B9BCF4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890B9CA-7860-C112-1FCF-77461073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00FA7A-B026-6B6E-79F2-17165673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077D1D-B9AC-0A2B-CB96-BB8666AE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233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866E91-A78E-66C1-27A8-6CE9DC9D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C85290D-ACCC-BE54-5A25-F1AC25DF9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A91EB3F-1673-5419-800A-4C423ACA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1A3381-3CC3-5CFE-E50B-60E943F6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01EF4B6-9364-C88D-2746-FBFF890D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119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75B4B9-2A09-AF1E-45FB-8C1F7EAB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1569BFE-2847-19E8-021B-366C45816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64BEF4-73A6-5B86-F5E9-41E0BE7A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9DC0C2A-9A4F-51EE-6F77-D5181894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C218384-B150-2454-2A11-7BF8444B0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670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38560A-907C-4451-ED04-2D0E412FA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3AC779-E2E2-FCD1-2D65-B08440C08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5AACB91-F88B-AEAF-486B-822502EA1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99D6136-5D3A-D78A-7F12-FAC3AB27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9CDF313-C5AF-3771-AAAF-08E3D3DB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A856818-376E-B3CE-D3AC-9F16A2DB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765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0A95C2-059A-2545-8DE2-755FF9AA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41BB0C7-4738-0305-95D5-4C1D7CA36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44C2048-FBAE-A917-2F4B-1E715E96D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86F1CD3-7A44-8187-5C00-E37709E20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734D4E8-AD81-7656-6343-023340CDD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D278450-C3AE-CC57-9CC6-58FCDA9B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E0B716E-9F7D-A285-C6CC-3FE3765B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C766704-4403-E11D-CF22-EBFA29E2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407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38BB16-C6F1-A02D-D0C8-1444C3A7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0171BA6-9E86-B063-9229-F25D2EBEA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6EB2B49-15D4-CD1E-2786-874012DD1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FCD540C-F90D-F5CB-0C9F-F1B036ED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434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2247325-0B51-2513-73A5-21072921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3031B01-32D9-11EC-BC74-68BC936B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FC01765-74E6-53C6-E603-042A6C62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166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843B16-FC45-DCC2-C61E-D0D3E60F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BC77280-BA09-A1D6-625B-AA90693D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F3537B0-5C02-05CE-8D73-4D62B6806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B7EC10E-A77F-80B0-BB7A-4DD299C6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E301699-FED1-9A00-7085-4CDCAD54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30225A5-534B-2063-C97A-1300B283E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956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3CA15D-8FCF-630A-F0DF-4BA9E47E4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2FCFC12-9B20-F4AF-EAB4-265A75882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8E3B6DB-3F85-F41A-DF2B-B44DC4F33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C953C20-296F-1DF7-70ED-8F2A4B43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CFC1897-3A0D-D6A9-89F1-71B70FFE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F484D9D-CFE1-EA07-3884-F2301EBC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905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620044-CA27-1566-5709-6CC9BAC9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6315B66-C178-381D-DB04-B4C4C3F64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9A138DB-5E57-80CE-E105-90882AF1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160A1A5-A96D-47A0-5DD6-0A62AD723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E63A807-5784-C02B-1A88-2E79051D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957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D56C035-2198-2B20-4B56-85A2AF8E2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4D15EF6-556F-CF9A-EE26-8330863AB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1C95DE3-56C8-A0C9-CA3C-4BD6B8ED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C34005-3834-EC8B-E96D-4C190EBF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CCE1624-C4C2-1432-B9B2-72EF63B6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648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5302029-23A9-1532-0B2F-81ABAD1E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BE11AD6-AA0F-1790-60BA-3BB47503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DC701B4-7242-070E-2480-95DDC4202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1C029-B37C-44E8-9E69-8CAE48001F1B}" type="datetimeFigureOut">
              <a:rPr lang="he-IL" smtClean="0"/>
              <a:t>י"ז/אייר/תשפ"ו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369FFB5-ADFB-E240-AD58-8C0CC27D3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18A01D5-DB23-5830-2D8D-719DC44CD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D8C7A-93E6-490F-84AD-D4F97651FD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571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B16C81DB-0606-5C84-4EDF-21701DBDD315}"/>
              </a:ext>
            </a:extLst>
          </p:cNvPr>
          <p:cNvSpPr/>
          <p:nvPr/>
        </p:nvSpPr>
        <p:spPr>
          <a:xfrm>
            <a:off x="0" y="0"/>
            <a:ext cx="12192000" cy="10541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>
                <a:solidFill>
                  <a:srgbClr val="FFFFFF"/>
                </a:solidFill>
              </a:rPr>
              <a:t>כמעט אירוע איכות — מודל פרואקטיבי לזיהוי מוקדם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0B1B18C2-659F-63E4-AFA3-EC3A488B57BF}"/>
              </a:ext>
            </a:extLst>
          </p:cNvPr>
          <p:cNvSpPr/>
          <p:nvPr/>
        </p:nvSpPr>
        <p:spPr>
          <a:xfrm>
            <a:off x="279400" y="1143000"/>
            <a:ext cx="5054600" cy="38354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0" rIns="101600" rtlCol="1" anchor="ctr"/>
          <a:lstStyle/>
          <a:p>
            <a:pPr algn="ctr"/>
            <a:r>
              <a:rPr lang="he-IL" b="1">
                <a:solidFill>
                  <a:srgbClr val="FFFFFF"/>
                </a:solidFill>
              </a:rPr>
              <a:t>🛡️  עולם הבטיחות</a:t>
            </a:r>
          </a:p>
          <a:p>
            <a:pPr algn="ctr"/>
            <a:endParaRPr lang="he-IL" sz="1400">
              <a:solidFill>
                <a:srgbClr val="FFFFFF"/>
              </a:solidFill>
            </a:endParaRPr>
          </a:p>
          <a:p>
            <a:pPr algn="ctr"/>
            <a:r>
              <a:rPr lang="he-IL" sz="1600" b="1">
                <a:solidFill>
                  <a:srgbClr val="FFD700"/>
                </a:solidFill>
              </a:rPr>
              <a:t>"כמעט ונפגע"</a:t>
            </a:r>
          </a:p>
          <a:p>
            <a:pPr algn="ctr"/>
            <a:endParaRPr lang="he-IL" sz="1400">
              <a:solidFill>
                <a:srgbClr val="FFFFFF"/>
              </a:solidFill>
            </a:endParaRPr>
          </a:p>
          <a:p>
            <a:pPr algn="ctr"/>
            <a:r>
              <a:rPr lang="he-IL" sz="1400">
                <a:solidFill>
                  <a:srgbClr val="FFFFFF"/>
                </a:solidFill>
              </a:rPr>
              <a:t>• אירוע שיכל להסתיים בנפגע — זוהה לפני הנזק</a:t>
            </a:r>
          </a:p>
          <a:p>
            <a:pPr algn="ctr"/>
            <a:r>
              <a:rPr lang="he-IL" sz="1400">
                <a:solidFill>
                  <a:srgbClr val="FFFFFF"/>
                </a:solidFill>
              </a:rPr>
              <a:t>• כלי פרואקטיבי ומניעתי</a:t>
            </a:r>
          </a:p>
          <a:p>
            <a:pPr algn="ctr"/>
            <a:r>
              <a:rPr lang="he-IL" sz="1400">
                <a:solidFill>
                  <a:srgbClr val="FFFFFF"/>
                </a:solidFill>
              </a:rPr>
              <a:t>• הוכח: מקטין תאונות, מעלה מודעות</a:t>
            </a:r>
          </a:p>
          <a:p>
            <a:pPr algn="ctr"/>
            <a:endParaRPr lang="he-IL" sz="1400">
              <a:solidFill>
                <a:srgbClr val="FFFFFF"/>
              </a:solidFill>
            </a:endParaRPr>
          </a:p>
          <a:p>
            <a:pPr algn="ctr"/>
            <a:r>
              <a:rPr lang="he-IL" sz="1400" b="1">
                <a:solidFill>
                  <a:srgbClr val="FFD700"/>
                </a:solidFill>
              </a:rPr>
              <a:t>📍 ניסיון: פירוטכניקה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006FA19-AF8D-35A0-C645-5EFA9DA9D099}"/>
              </a:ext>
            </a:extLst>
          </p:cNvPr>
          <p:cNvSpPr txBox="1"/>
          <p:nvPr/>
        </p:nvSpPr>
        <p:spPr>
          <a:xfrm>
            <a:off x="5461000" y="2349500"/>
            <a:ext cx="1270000" cy="1015663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pPr algn="ctr"/>
            <a:r>
              <a:rPr lang="he-IL" sz="3200">
                <a:solidFill>
                  <a:srgbClr val="828282"/>
                </a:solidFill>
              </a:rPr>
              <a:t>→</a:t>
            </a:r>
          </a:p>
          <a:p>
            <a:pPr algn="ctr"/>
            <a:r>
              <a:rPr lang="he-IL" sz="1400"/>
              <a:t>אותו מודל</a:t>
            </a:r>
          </a:p>
          <a:p>
            <a:pPr algn="ctr"/>
            <a:r>
              <a:rPr lang="he-IL" sz="1400"/>
              <a:t>עולם אחר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CE09530-51BF-546B-5801-A2AFC05313B9}"/>
              </a:ext>
            </a:extLst>
          </p:cNvPr>
          <p:cNvSpPr/>
          <p:nvPr/>
        </p:nvSpPr>
        <p:spPr>
          <a:xfrm>
            <a:off x="6896100" y="1143000"/>
            <a:ext cx="5016500" cy="3835400"/>
          </a:xfrm>
          <a:prstGeom prst="rect">
            <a:avLst/>
          </a:prstGeom>
          <a:solidFill>
            <a:srgbClr val="1E56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0" rIns="101600" rtlCol="1" anchor="ctr"/>
          <a:lstStyle/>
          <a:p>
            <a:pPr algn="ctr"/>
            <a:r>
              <a:rPr lang="he-IL" b="1">
                <a:solidFill>
                  <a:srgbClr val="FFFFFF"/>
                </a:solidFill>
              </a:rPr>
              <a:t>⚙️  עולם האיכות</a:t>
            </a:r>
          </a:p>
          <a:p>
            <a:pPr algn="ctr"/>
            <a:endParaRPr lang="he-IL" sz="1400">
              <a:solidFill>
                <a:srgbClr val="FFFFFF"/>
              </a:solidFill>
            </a:endParaRPr>
          </a:p>
          <a:p>
            <a:pPr algn="ctr"/>
            <a:r>
              <a:rPr lang="he-IL" sz="1600" b="1">
                <a:solidFill>
                  <a:srgbClr val="90EE90"/>
                </a:solidFill>
              </a:rPr>
              <a:t>"כמעט אירוע איכות"</a:t>
            </a:r>
          </a:p>
          <a:p>
            <a:pPr algn="ctr"/>
            <a:endParaRPr lang="he-IL" sz="1400">
              <a:solidFill>
                <a:srgbClr val="FFFFFF"/>
              </a:solidFill>
            </a:endParaRPr>
          </a:p>
          <a:p>
            <a:pPr algn="ctr"/>
            <a:r>
              <a:rPr lang="he-IL" sz="1400">
                <a:solidFill>
                  <a:srgbClr val="FFFFFF"/>
                </a:solidFill>
              </a:rPr>
              <a:t>• אירוע שזוהה לפני שהפך לחריגה, פסילה או אירוע לקוח</a:t>
            </a:r>
          </a:p>
          <a:p>
            <a:pPr algn="ctr"/>
            <a:r>
              <a:rPr lang="he-IL" sz="1400">
                <a:solidFill>
                  <a:srgbClr val="FFFFFF"/>
                </a:solidFill>
              </a:rPr>
              <a:t>• זיהוי מוקדם — לא בתחקיר</a:t>
            </a:r>
          </a:p>
          <a:p>
            <a:pPr algn="ctr"/>
            <a:r>
              <a:rPr lang="he-IL" sz="1400">
                <a:solidFill>
                  <a:srgbClr val="FFFFFF"/>
                </a:solidFill>
              </a:rPr>
              <a:t>• תרבות איכות פרואקטיבית</a:t>
            </a:r>
          </a:p>
          <a:p>
            <a:pPr algn="ctr"/>
            <a:endParaRPr lang="he-IL" sz="1400">
              <a:solidFill>
                <a:srgbClr val="FFFFFF"/>
              </a:solidFill>
            </a:endParaRPr>
          </a:p>
          <a:p>
            <a:pPr algn="ctr"/>
            <a:r>
              <a:rPr lang="he-IL" sz="1400" b="1">
                <a:solidFill>
                  <a:srgbClr val="90EE90"/>
                </a:solidFill>
              </a:rPr>
              <a:t>📍 יעד: כל מחלקות האיכות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1026C42E-2469-3D30-056E-405AE2E49E64}"/>
              </a:ext>
            </a:extLst>
          </p:cNvPr>
          <p:cNvSpPr/>
          <p:nvPr/>
        </p:nvSpPr>
        <p:spPr>
          <a:xfrm>
            <a:off x="279400" y="5130800"/>
            <a:ext cx="11633200" cy="1549400"/>
          </a:xfrm>
          <a:prstGeom prst="rect">
            <a:avLst/>
          </a:prstGeom>
          <a:solidFill>
            <a:srgbClr val="F0F0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1600" rIns="177800" rtlCol="1" anchor="ctr"/>
          <a:lstStyle/>
          <a:p>
            <a:r>
              <a:rPr lang="he-IL" sz="1300" b="1" dirty="0">
                <a:solidFill>
                  <a:srgbClr val="1F3864"/>
                </a:solidFill>
              </a:rPr>
              <a:t>📋  הגדרה: "כמעט אירוע איכות"</a:t>
            </a:r>
          </a:p>
          <a:p>
            <a:r>
              <a:rPr lang="he-IL" sz="1300" dirty="0"/>
              <a:t>אירוע שבו זוהה פוטנציאל לכשל, אי-התאמה או חריגה בתהליך, במוצר, בחומר או בבקרה —</a:t>
            </a:r>
          </a:p>
          <a:p>
            <a:r>
              <a:rPr lang="he-IL" sz="1300" b="1" dirty="0">
                <a:solidFill>
                  <a:srgbClr val="1E5631"/>
                </a:solidFill>
              </a:rPr>
              <a:t>אשר זוהה ונבלם לפני שהתפתח לאירוע איכות בפועל.</a:t>
            </a:r>
          </a:p>
        </p:txBody>
      </p:sp>
    </p:spTree>
    <p:extLst>
      <p:ext uri="{BB962C8B-B14F-4D97-AF65-F5344CB8AC3E}">
        <p14:creationId xmlns:p14="http://schemas.microsoft.com/office/powerpoint/2010/main" val="332242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66DD2D3-B36B-04D4-1769-37DF96073477}"/>
              </a:ext>
            </a:extLst>
          </p:cNvPr>
          <p:cNvSpPr/>
          <p:nvPr/>
        </p:nvSpPr>
        <p:spPr>
          <a:xfrm>
            <a:off x="0" y="0"/>
            <a:ext cx="12192000" cy="1054100"/>
          </a:xfrm>
          <a:prstGeom prst="rect">
            <a:avLst/>
          </a:prstGeom>
          <a:solidFill>
            <a:srgbClr val="BF6E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>
                <a:solidFill>
                  <a:srgbClr val="FFFFFF"/>
                </a:solidFill>
              </a:rPr>
              <a:t>מקרה לדוגמה — כמעט אירוע איכות: מנת גרפיט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2A13D40-14A5-4FC0-F708-89AE6B607A0B}"/>
              </a:ext>
            </a:extLst>
          </p:cNvPr>
          <p:cNvSpPr/>
          <p:nvPr/>
        </p:nvSpPr>
        <p:spPr>
          <a:xfrm>
            <a:off x="279400" y="1206500"/>
            <a:ext cx="2133600" cy="38100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0" rIns="76200" rtlCol="1" anchor="t"/>
          <a:lstStyle/>
          <a:p>
            <a:pPr algn="ctr"/>
            <a:r>
              <a:rPr lang="he-IL" sz="26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lang="he-IL" sz="2400">
                <a:solidFill>
                  <a:srgbClr val="FFFFFF"/>
                </a:solidFill>
              </a:rPr>
              <a:t>📦</a:t>
            </a:r>
          </a:p>
          <a:p>
            <a:pPr algn="ctr"/>
            <a:r>
              <a:rPr lang="he-IL" sz="1500" b="1">
                <a:solidFill>
                  <a:srgbClr val="FFFFFF"/>
                </a:solidFill>
              </a:rPr>
              <a:t>קבלה</a:t>
            </a:r>
          </a:p>
          <a:p>
            <a:pPr algn="ctr"/>
            <a:endParaRPr lang="he-IL" sz="400">
              <a:solidFill>
                <a:srgbClr val="FFFFFF"/>
              </a:solidFill>
            </a:endParaRPr>
          </a:p>
          <a:p>
            <a:pPr algn="ctr"/>
            <a:r>
              <a:rPr lang="he-IL" sz="1200">
                <a:solidFill>
                  <a:srgbClr val="FFFFFF"/>
                </a:solidFill>
              </a:rPr>
              <a:t>2 מנות גרפיט שונות</a:t>
            </a:r>
          </a:p>
          <a:p>
            <a:pPr algn="ctr"/>
            <a:r>
              <a:rPr lang="he-IL" sz="1200">
                <a:solidFill>
                  <a:srgbClr val="FFFFFF"/>
                </a:solidFill>
              </a:rPr>
              <a:t>סימון על הארגז בלבד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883E876-4FAC-5810-01E4-51004C5BA24B}"/>
              </a:ext>
            </a:extLst>
          </p:cNvPr>
          <p:cNvSpPr txBox="1"/>
          <p:nvPr/>
        </p:nvSpPr>
        <p:spPr>
          <a:xfrm>
            <a:off x="2438400" y="2730500"/>
            <a:ext cx="152400" cy="276999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pPr algn="ctr"/>
            <a:r>
              <a:rPr lang="he-IL" sz="1200">
                <a:solidFill>
                  <a:srgbClr val="8C8C8C"/>
                </a:solidFill>
              </a:rPr>
              <a:t>▶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102EFA1-3D6D-3A59-2C88-29A04B1C5B57}"/>
              </a:ext>
            </a:extLst>
          </p:cNvPr>
          <p:cNvSpPr/>
          <p:nvPr/>
        </p:nvSpPr>
        <p:spPr>
          <a:xfrm>
            <a:off x="2616200" y="1206500"/>
            <a:ext cx="2133600" cy="3810000"/>
          </a:xfrm>
          <a:prstGeom prst="rect">
            <a:avLst/>
          </a:prstGeom>
          <a:solidFill>
            <a:srgbClr val="ED73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0" rIns="76200" rtlCol="1" anchor="t"/>
          <a:lstStyle/>
          <a:p>
            <a:pPr algn="ctr"/>
            <a:r>
              <a:rPr lang="he-IL" sz="26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lang="he-IL" sz="2400">
                <a:solidFill>
                  <a:srgbClr val="FFFFFF"/>
                </a:solidFill>
              </a:rPr>
              <a:t>✂️</a:t>
            </a:r>
          </a:p>
          <a:p>
            <a:pPr algn="ctr"/>
            <a:r>
              <a:rPr lang="he-IL" sz="1500" b="1">
                <a:solidFill>
                  <a:srgbClr val="FFFFFF"/>
                </a:solidFill>
              </a:rPr>
              <a:t>חיתוך</a:t>
            </a:r>
          </a:p>
          <a:p>
            <a:pPr algn="ctr"/>
            <a:endParaRPr lang="he-IL" sz="400">
              <a:solidFill>
                <a:srgbClr val="FFFFFF"/>
              </a:solidFill>
            </a:endParaRPr>
          </a:p>
          <a:p>
            <a:pPr algn="ctr"/>
            <a:r>
              <a:rPr lang="he-IL" sz="1200">
                <a:solidFill>
                  <a:srgbClr val="FFFFFF"/>
                </a:solidFill>
              </a:rPr>
              <a:t>שתי המנות נחתכו</a:t>
            </a:r>
          </a:p>
          <a:p>
            <a:pPr algn="ctr"/>
            <a:r>
              <a:rPr lang="he-IL" sz="1200">
                <a:solidFill>
                  <a:srgbClr val="FFFFFF"/>
                </a:solidFill>
              </a:rPr>
              <a:t>במחסן המתכות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439EE89-BB46-0763-E6DC-3800E68852E6}"/>
              </a:ext>
            </a:extLst>
          </p:cNvPr>
          <p:cNvSpPr txBox="1"/>
          <p:nvPr/>
        </p:nvSpPr>
        <p:spPr>
          <a:xfrm>
            <a:off x="4775200" y="2730500"/>
            <a:ext cx="152400" cy="276999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pPr algn="ctr"/>
            <a:r>
              <a:rPr lang="he-IL" sz="1200">
                <a:solidFill>
                  <a:srgbClr val="8C8C8C"/>
                </a:solidFill>
              </a:rPr>
              <a:t>▶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E4B8226-6EB8-8E6E-03EB-B4ED53C085D3}"/>
              </a:ext>
            </a:extLst>
          </p:cNvPr>
          <p:cNvSpPr/>
          <p:nvPr/>
        </p:nvSpPr>
        <p:spPr>
          <a:xfrm>
            <a:off x="4953000" y="1206500"/>
            <a:ext cx="2133600" cy="38100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0" rIns="76200" rtlCol="1" anchor="t"/>
          <a:lstStyle/>
          <a:p>
            <a:pPr algn="ctr"/>
            <a:r>
              <a:rPr lang="he-IL" sz="26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lang="he-IL" sz="2400">
                <a:solidFill>
                  <a:srgbClr val="FFFFFF"/>
                </a:solidFill>
              </a:rPr>
              <a:t>❓</a:t>
            </a:r>
          </a:p>
          <a:p>
            <a:pPr algn="ctr"/>
            <a:r>
              <a:rPr lang="he-IL" sz="1500" b="1">
                <a:solidFill>
                  <a:srgbClr val="FFFFFF"/>
                </a:solidFill>
              </a:rPr>
              <a:t>גילוי</a:t>
            </a:r>
          </a:p>
          <a:p>
            <a:pPr algn="ctr"/>
            <a:endParaRPr lang="he-IL" sz="400">
              <a:solidFill>
                <a:srgbClr val="FFFFFF"/>
              </a:solidFill>
            </a:endParaRPr>
          </a:p>
          <a:p>
            <a:pPr algn="ctr"/>
            <a:r>
              <a:rPr lang="he-IL" sz="1200">
                <a:solidFill>
                  <a:srgbClr val="FFFFFF"/>
                </a:solidFill>
              </a:rPr>
              <a:t>בסיור: אין כיתוב</a:t>
            </a:r>
          </a:p>
          <a:p>
            <a:pPr algn="ctr"/>
            <a:r>
              <a:rPr lang="he-IL" sz="1200">
                <a:solidFill>
                  <a:srgbClr val="FFFFFF"/>
                </a:solidFill>
              </a:rPr>
              <a:t>על גוף הפריט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95BD41CE-D8CE-F308-3155-80EB0CA59C70}"/>
              </a:ext>
            </a:extLst>
          </p:cNvPr>
          <p:cNvSpPr txBox="1"/>
          <p:nvPr/>
        </p:nvSpPr>
        <p:spPr>
          <a:xfrm>
            <a:off x="7112000" y="2730500"/>
            <a:ext cx="152400" cy="276999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pPr algn="ctr"/>
            <a:r>
              <a:rPr lang="he-IL" sz="1200">
                <a:solidFill>
                  <a:srgbClr val="8C8C8C"/>
                </a:solidFill>
              </a:rPr>
              <a:t>▶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DD97432F-E485-91C3-B86D-7AA34C7A81C8}"/>
              </a:ext>
            </a:extLst>
          </p:cNvPr>
          <p:cNvSpPr/>
          <p:nvPr/>
        </p:nvSpPr>
        <p:spPr>
          <a:xfrm>
            <a:off x="7289800" y="1206500"/>
            <a:ext cx="2133600" cy="3810000"/>
          </a:xfrm>
          <a:prstGeom prst="rect">
            <a:avLst/>
          </a:prstGeom>
          <a:solidFill>
            <a:srgbClr val="7000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0" rIns="76200" rtlCol="1" anchor="t"/>
          <a:lstStyle/>
          <a:p>
            <a:pPr algn="ctr"/>
            <a:r>
              <a:rPr lang="he-IL" sz="26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lang="he-IL" sz="2400">
                <a:solidFill>
                  <a:srgbClr val="FFFFFF"/>
                </a:solidFill>
              </a:rPr>
              <a:t>🛑</a:t>
            </a:r>
          </a:p>
          <a:p>
            <a:pPr algn="ctr"/>
            <a:r>
              <a:rPr lang="he-IL" sz="1500" b="1">
                <a:solidFill>
                  <a:srgbClr val="FFFFFF"/>
                </a:solidFill>
              </a:rPr>
              <a:t>בלימה</a:t>
            </a:r>
          </a:p>
          <a:p>
            <a:pPr algn="ctr"/>
            <a:endParaRPr lang="he-IL" sz="400">
              <a:solidFill>
                <a:srgbClr val="FFFFFF"/>
              </a:solidFill>
            </a:endParaRPr>
          </a:p>
          <a:p>
            <a:pPr algn="ctr"/>
            <a:r>
              <a:rPr lang="he-IL" sz="1200">
                <a:solidFill>
                  <a:srgbClr val="FFFFFF"/>
                </a:solidFill>
              </a:rPr>
              <a:t>זוהה ונבלם לפני</a:t>
            </a:r>
          </a:p>
          <a:p>
            <a:pPr algn="ctr"/>
            <a:r>
              <a:rPr lang="he-IL" sz="1200">
                <a:solidFill>
                  <a:srgbClr val="FFFFFF"/>
                </a:solidFill>
              </a:rPr>
              <a:t>שימוש בחומר לא ידוע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D2B94E74-9600-1847-AFBC-62847C11F98E}"/>
              </a:ext>
            </a:extLst>
          </p:cNvPr>
          <p:cNvSpPr txBox="1"/>
          <p:nvPr/>
        </p:nvSpPr>
        <p:spPr>
          <a:xfrm>
            <a:off x="9448800" y="2730500"/>
            <a:ext cx="152400" cy="276999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pPr algn="ctr"/>
            <a:r>
              <a:rPr lang="he-IL" sz="1200">
                <a:solidFill>
                  <a:srgbClr val="8C8C8C"/>
                </a:solidFill>
              </a:rPr>
              <a:t>▶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27C79912-D31A-CE04-7305-FE6F03E808AE}"/>
              </a:ext>
            </a:extLst>
          </p:cNvPr>
          <p:cNvSpPr/>
          <p:nvPr/>
        </p:nvSpPr>
        <p:spPr>
          <a:xfrm>
            <a:off x="9626600" y="1206500"/>
            <a:ext cx="2133600" cy="3810000"/>
          </a:xfrm>
          <a:prstGeom prst="rect">
            <a:avLst/>
          </a:prstGeom>
          <a:solidFill>
            <a:srgbClr val="1E56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0" rIns="76200" rtlCol="1" anchor="t"/>
          <a:lstStyle/>
          <a:p>
            <a:pPr algn="ctr"/>
            <a:r>
              <a:rPr lang="he-IL" sz="26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lang="he-IL" sz="2400">
                <a:solidFill>
                  <a:srgbClr val="FFFFFF"/>
                </a:solidFill>
              </a:rPr>
              <a:t>✅</a:t>
            </a:r>
          </a:p>
          <a:p>
            <a:pPr algn="ctr"/>
            <a:r>
              <a:rPr lang="he-IL" sz="1500" b="1">
                <a:solidFill>
                  <a:srgbClr val="FFFFFF"/>
                </a:solidFill>
              </a:rPr>
              <a:t>תיקון</a:t>
            </a:r>
          </a:p>
          <a:p>
            <a:pPr algn="ctr"/>
            <a:endParaRPr lang="he-IL" sz="400">
              <a:solidFill>
                <a:srgbClr val="FFFFFF"/>
              </a:solidFill>
            </a:endParaRPr>
          </a:p>
          <a:p>
            <a:pPr algn="ctr"/>
            <a:r>
              <a:rPr lang="he-IL" sz="1200">
                <a:solidFill>
                  <a:srgbClr val="FFFFFF"/>
                </a:solidFill>
              </a:rPr>
              <a:t>נוהל: כיתוב על גוף</a:t>
            </a:r>
          </a:p>
          <a:p>
            <a:pPr algn="ctr"/>
            <a:r>
              <a:rPr lang="he-IL" sz="1200">
                <a:solidFill>
                  <a:srgbClr val="FFFFFF"/>
                </a:solidFill>
              </a:rPr>
              <a:t>הפריט + פדחת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919E8B86-029A-956C-684F-B9898BEA9B8B}"/>
              </a:ext>
            </a:extLst>
          </p:cNvPr>
          <p:cNvSpPr/>
          <p:nvPr/>
        </p:nvSpPr>
        <p:spPr>
          <a:xfrm>
            <a:off x="279400" y="5181600"/>
            <a:ext cx="11633200" cy="1498600"/>
          </a:xfrm>
          <a:prstGeom prst="rect">
            <a:avLst/>
          </a:prstGeom>
          <a:solidFill>
            <a:srgbClr val="F0F0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1600" rIns="177800" rtlCol="1" anchor="ctr"/>
          <a:lstStyle/>
          <a:p>
            <a:r>
              <a:rPr lang="he-IL" sz="1300" b="1">
                <a:solidFill>
                  <a:srgbClr val="1E5631"/>
                </a:solidFill>
              </a:rPr>
              <a:t>✅  תוצאה ולקחים</a:t>
            </a:r>
          </a:p>
          <a:p>
            <a:r>
              <a:rPr lang="he-IL" sz="1300"/>
              <a:t>שיחת חידוד ויישור קו — נקבע נוהל: כיתוב על גוף הפריט ובפדחת לפני חיתוך</a:t>
            </a:r>
          </a:p>
          <a:p>
            <a:r>
              <a:rPr lang="he-IL" sz="1300" b="1">
                <a:solidFill>
                  <a:srgbClr val="1F3864"/>
                </a:solidFill>
              </a:rPr>
              <a:t>מאז: אפס אירועי ערבוב חומרים  |  כמעט אירוע איכות שנמנע ברגע האחרון</a:t>
            </a:r>
          </a:p>
        </p:txBody>
      </p:sp>
    </p:spTree>
    <p:extLst>
      <p:ext uri="{BB962C8B-B14F-4D97-AF65-F5344CB8AC3E}">
        <p14:creationId xmlns:p14="http://schemas.microsoft.com/office/powerpoint/2010/main" val="109741713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מותאם אישית</PresentationFormat>
  <Paragraphs>63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נועה שרה אזרד</dc:creator>
  <cp:lastModifiedBy>נועה שרה אזרד</cp:lastModifiedBy>
  <cp:revision>1</cp:revision>
  <dcterms:created xsi:type="dcterms:W3CDTF">2026-05-04T19:05:17Z</dcterms:created>
  <dcterms:modified xsi:type="dcterms:W3CDTF">2026-05-04T19:05:17Z</dcterms:modified>
</cp:coreProperties>
</file>